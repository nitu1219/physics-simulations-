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33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331"/>
                </a:solidFill>
                <a:latin typeface="Arial"/>
              </a:rPr>
              <a:t>Steady-State Profile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</c:v>
                </c:pt>
              </c:strCache>
            </c:strRef>
          </c:tx>
          <c:spPr>
            <a:solidFill>
              <a:srgbClr val="FF7A3D"/>
            </a:solidFill>
            <a:ln w="31750" cap="flat">
              <a:solidFill>
                <a:srgbClr val="FF7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3D"/>
              </a:solidFill>
              <a:ln w="9525" cap="flat">
                <a:solidFill>
                  <a:srgbClr val="FF7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0.0</c:v>
                  </c:pt>
                  <c:pt idx="1">
                    <c:v>0.5</c:v>
                  </c:pt>
                  <c:pt idx="2">
                    <c:v>1.1</c:v>
                  </c:pt>
                  <c:pt idx="3">
                    <c:v>1.6</c:v>
                  </c:pt>
                  <c:pt idx="4">
                    <c:v>2.1</c:v>
                  </c:pt>
                  <c:pt idx="5">
                    <c:v>2.6</c:v>
                  </c:pt>
                  <c:pt idx="6">
                    <c:v>3.2</c:v>
                  </c:pt>
                  <c:pt idx="7">
                    <c:v>3.7</c:v>
                  </c:pt>
                  <c:pt idx="8">
                    <c:v>4.2</c:v>
                  </c:pt>
                  <c:pt idx="9">
                    <c:v>4.7</c:v>
                  </c:pt>
                  <c:pt idx="10">
                    <c:v>5.3</c:v>
                  </c:pt>
                  <c:pt idx="11">
                    <c:v>5.8</c:v>
                  </c:pt>
                  <c:pt idx="12">
                    <c:v>6.3</c:v>
                  </c:pt>
                  <c:pt idx="13">
                    <c:v>6.8</c:v>
                  </c:pt>
                  <c:pt idx="14">
                    <c:v>7.4</c:v>
                  </c:pt>
                  <c:pt idx="15">
                    <c:v>7.9</c:v>
                  </c:pt>
                  <c:pt idx="16">
                    <c:v>8.4</c:v>
                  </c:pt>
                  <c:pt idx="17">
                    <c:v>8.9</c:v>
                  </c:pt>
                  <c:pt idx="18">
                    <c:v>9.5</c:v>
                  </c:pt>
                  <c:pt idx="19">
                    <c:v>10.0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961.24</c:v>
                </c:pt>
                <c:pt idx="1">
                  <c:v>930.28</c:v>
                </c:pt>
                <c:pt idx="2">
                  <c:v>899.32</c:v>
                </c:pt>
                <c:pt idx="3">
                  <c:v>868.36</c:v>
                </c:pt>
                <c:pt idx="4">
                  <c:v>837.4</c:v>
                </c:pt>
                <c:pt idx="5">
                  <c:v>806.44</c:v>
                </c:pt>
                <c:pt idx="6">
                  <c:v>775.48</c:v>
                </c:pt>
                <c:pt idx="7">
                  <c:v>744.52</c:v>
                </c:pt>
                <c:pt idx="8">
                  <c:v>713.56</c:v>
                </c:pt>
                <c:pt idx="9">
                  <c:v>682.6</c:v>
                </c:pt>
                <c:pt idx="10">
                  <c:v>651.64</c:v>
                </c:pt>
                <c:pt idx="11">
                  <c:v>620.68</c:v>
                </c:pt>
                <c:pt idx="12">
                  <c:v>589.72</c:v>
                </c:pt>
                <c:pt idx="13">
                  <c:v>558.76</c:v>
                </c:pt>
                <c:pt idx="14">
                  <c:v>527.8</c:v>
                </c:pt>
                <c:pt idx="15">
                  <c:v>496.84</c:v>
                </c:pt>
                <c:pt idx="16">
                  <c:v>465.88</c:v>
                </c:pt>
                <c:pt idx="17">
                  <c:v>434.92</c:v>
                </c:pt>
                <c:pt idx="18">
                  <c:v>403.96</c:v>
                </c:pt>
                <c:pt idx="19">
                  <c:v>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Depth into divertor (mm)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Temperature (K)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33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331"/>
                </a:solidFill>
                <a:latin typeface="Arial"/>
              </a:rPr>
              <a:t>Depth profile at successive times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= 0.0001 s</c:v>
                </c:pt>
              </c:strCache>
            </c:strRef>
          </c:tx>
          <c:spPr>
            <a:solidFill>
              <a:srgbClr val="5FD1D0"/>
            </a:solidFill>
            <a:ln w="27940" cap="flat">
              <a:solidFill>
                <a:srgbClr val="5FD1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FD1D0"/>
              </a:solidFill>
              <a:ln w="9525" cap="flat">
                <a:solidFill>
                  <a:srgbClr val="5FD1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</c:v>
                  </c:pt>
                  <c:pt idx="1">
                    <c:v>1.0</c:v>
                  </c:pt>
                  <c:pt idx="2">
                    <c:v>2.0</c:v>
                  </c:pt>
                  <c:pt idx="3">
                    <c:v>3.1</c:v>
                  </c:pt>
                  <c:pt idx="4">
                    <c:v>4.1</c:v>
                  </c:pt>
                  <c:pt idx="5">
                    <c:v>5.1</c:v>
                  </c:pt>
                  <c:pt idx="6">
                    <c:v>6.1</c:v>
                  </c:pt>
                  <c:pt idx="7">
                    <c:v>7.1</c:v>
                  </c:pt>
                  <c:pt idx="8">
                    <c:v>8.2</c:v>
                  </c:pt>
                  <c:pt idx="9">
                    <c:v>9.2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385.00480192076833</c:v>
                </c:pt>
                <c:pt idx="1">
                  <c:v>373</c:v>
                </c:pt>
                <c:pt idx="2">
                  <c:v>373</c:v>
                </c:pt>
                <c:pt idx="3">
                  <c:v>373</c:v>
                </c:pt>
                <c:pt idx="4">
                  <c:v>373</c:v>
                </c:pt>
                <c:pt idx="5">
                  <c:v>373</c:v>
                </c:pt>
                <c:pt idx="6">
                  <c:v>373</c:v>
                </c:pt>
                <c:pt idx="7">
                  <c:v>373</c:v>
                </c:pt>
                <c:pt idx="8">
                  <c:v>373</c:v>
                </c:pt>
                <c:pt idx="9">
                  <c:v>373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 = 0.01 s</c:v>
                </c:pt>
              </c:strCache>
            </c:strRef>
          </c:tx>
          <c:spPr>
            <a:solidFill>
              <a:srgbClr val="6FA8DC"/>
            </a:solidFill>
            <a:ln w="27940" cap="flat">
              <a:solidFill>
                <a:srgbClr val="6FA8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FA8DC"/>
              </a:solidFill>
              <a:ln w="9525" cap="flat">
                <a:solidFill>
                  <a:srgbClr val="6FA8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</c:v>
                  </c:pt>
                  <c:pt idx="1">
                    <c:v>1.0</c:v>
                  </c:pt>
                  <c:pt idx="2">
                    <c:v>2.0</c:v>
                  </c:pt>
                  <c:pt idx="3">
                    <c:v>3.1</c:v>
                  </c:pt>
                  <c:pt idx="4">
                    <c:v>4.1</c:v>
                  </c:pt>
                  <c:pt idx="5">
                    <c:v>5.1</c:v>
                  </c:pt>
                  <c:pt idx="6">
                    <c:v>6.1</c:v>
                  </c:pt>
                  <c:pt idx="7">
                    <c:v>7.1</c:v>
                  </c:pt>
                  <c:pt idx="8">
                    <c:v>8.2</c:v>
                  </c:pt>
                  <c:pt idx="9">
                    <c:v>9.2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432.89793440955674</c:v>
                </c:pt>
                <c:pt idx="1">
                  <c:v>389.09347529201756</c:v>
                </c:pt>
                <c:pt idx="2">
                  <c:v>375.4928917501735</c:v>
                </c:pt>
                <c:pt idx="3">
                  <c:v>373.2059231129976</c:v>
                </c:pt>
                <c:pt idx="4">
                  <c:v>373.00862631101324</c:v>
                </c:pt>
                <c:pt idx="5">
                  <c:v>373.0001774405336</c:v>
                </c:pt>
                <c:pt idx="6">
                  <c:v>373.00000175285703</c:v>
                </c:pt>
                <c:pt idx="7">
                  <c:v>373.00000000816993</c:v>
                </c:pt>
                <c:pt idx="8">
                  <c:v>373.0000000000176</c:v>
                </c:pt>
                <c:pt idx="9">
                  <c:v>373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0.05 s</c:v>
                </c:pt>
              </c:strCache>
            </c:strRef>
          </c:tx>
          <c:spPr>
            <a:solidFill>
              <a:srgbClr val="1F4E63"/>
            </a:solidFill>
            <a:ln w="27940" cap="flat">
              <a:solidFill>
                <a:srgbClr val="1F4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63"/>
              </a:solidFill>
              <a:ln w="9525" cap="flat">
                <a:solidFill>
                  <a:srgbClr val="1F4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</c:v>
                  </c:pt>
                  <c:pt idx="1">
                    <c:v>1.0</c:v>
                  </c:pt>
                  <c:pt idx="2">
                    <c:v>2.0</c:v>
                  </c:pt>
                  <c:pt idx="3">
                    <c:v>3.1</c:v>
                  </c:pt>
                  <c:pt idx="4">
                    <c:v>4.1</c:v>
                  </c:pt>
                  <c:pt idx="5">
                    <c:v>5.1</c:v>
                  </c:pt>
                  <c:pt idx="6">
                    <c:v>6.1</c:v>
                  </c:pt>
                  <c:pt idx="7">
                    <c:v>7.1</c:v>
                  </c:pt>
                  <c:pt idx="8">
                    <c:v>8.2</c:v>
                  </c:pt>
                  <c:pt idx="9">
                    <c:v>9.2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499.49637126426876</c:v>
                </c:pt>
                <c:pt idx="1">
                  <c:v>447.0114373198709</c:v>
                </c:pt>
                <c:pt idx="2">
                  <c:v>412.1922231275987</c:v>
                </c:pt>
                <c:pt idx="3">
                  <c:v>391.60954881771704</c:v>
                </c:pt>
                <c:pt idx="4">
                  <c:v>380.8608303566439</c:v>
                </c:pt>
                <c:pt idx="5">
                  <c:v>375.93448903468675</c:v>
                </c:pt>
                <c:pt idx="6">
                  <c:v>373.96287276528193</c:v>
                </c:pt>
                <c:pt idx="7">
                  <c:v>373.2764537903225</c:v>
                </c:pt>
                <c:pt idx="8">
                  <c:v>373.0690700223693</c:v>
                </c:pt>
                <c:pt idx="9">
                  <c:v>373.01408868702947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 = 0.2 s</c:v>
                </c:pt>
              </c:strCache>
            </c:strRef>
          </c:tx>
          <c:spPr>
            <a:solidFill>
              <a:srgbClr val="F4A261"/>
            </a:solidFill>
            <a:ln w="2794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</c:v>
                  </c:pt>
                  <c:pt idx="1">
                    <c:v>1.0</c:v>
                  </c:pt>
                  <c:pt idx="2">
                    <c:v>2.0</c:v>
                  </c:pt>
                  <c:pt idx="3">
                    <c:v>3.1</c:v>
                  </c:pt>
                  <c:pt idx="4">
                    <c:v>4.1</c:v>
                  </c:pt>
                  <c:pt idx="5">
                    <c:v>5.1</c:v>
                  </c:pt>
                  <c:pt idx="6">
                    <c:v>6.1</c:v>
                  </c:pt>
                  <c:pt idx="7">
                    <c:v>7.1</c:v>
                  </c:pt>
                  <c:pt idx="8">
                    <c:v>8.2</c:v>
                  </c:pt>
                  <c:pt idx="9">
                    <c:v>9.2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619.9668193552367</c:v>
                </c:pt>
                <c:pt idx="1">
                  <c:v>563.7358926618242</c:v>
                </c:pt>
                <c:pt idx="2">
                  <c:v>516.8296751065573</c:v>
                </c:pt>
                <c:pt idx="3">
                  <c:v>478.7386021816879</c:v>
                </c:pt>
                <c:pt idx="4">
                  <c:v>448.6465530557539</c:v>
                </c:pt>
                <c:pt idx="5">
                  <c:v>425.5090559064391</c:v>
                </c:pt>
                <c:pt idx="6">
                  <c:v>408.14139976521705</c:v>
                </c:pt>
                <c:pt idx="7">
                  <c:v>395.3000805945013</c:v>
                </c:pt>
                <c:pt idx="8">
                  <c:v>385.74399561390186</c:v>
                </c:pt>
                <c:pt idx="9">
                  <c:v>378.26765604519204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 = 10.0 s</c:v>
                </c:pt>
              </c:strCache>
            </c:strRef>
          </c:tx>
          <c:spPr>
            <a:solidFill>
              <a:srgbClr val="FF7A3D"/>
            </a:solidFill>
            <a:ln w="27940" cap="flat">
              <a:solidFill>
                <a:srgbClr val="FF7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3D"/>
              </a:solidFill>
              <a:ln w="9525" cap="flat">
                <a:solidFill>
                  <a:srgbClr val="FF7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</c:v>
                  </c:pt>
                  <c:pt idx="1">
                    <c:v>1.0</c:v>
                  </c:pt>
                  <c:pt idx="2">
                    <c:v>2.0</c:v>
                  </c:pt>
                  <c:pt idx="3">
                    <c:v>3.1</c:v>
                  </c:pt>
                  <c:pt idx="4">
                    <c:v>4.1</c:v>
                  </c:pt>
                  <c:pt idx="5">
                    <c:v>5.1</c:v>
                  </c:pt>
                  <c:pt idx="6">
                    <c:v>6.1</c:v>
                  </c:pt>
                  <c:pt idx="7">
                    <c:v>7.1</c:v>
                  </c:pt>
                  <c:pt idx="8">
                    <c:v>8.2</c:v>
                  </c:pt>
                  <c:pt idx="9">
                    <c:v>9.2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961.2352649168593</c:v>
                </c:pt>
                <c:pt idx="1">
                  <c:v>901.2112556188125</c:v>
                </c:pt>
                <c:pt idx="2">
                  <c:v>841.1872470768491</c:v>
                </c:pt>
                <c:pt idx="3">
                  <c:v>781.1632392631824</c:v>
                </c:pt>
                <c:pt idx="4">
                  <c:v>721.1392321309708</c:v>
                </c:pt>
                <c:pt idx="5">
                  <c:v>661.1152256155397</c:v>
                </c:pt>
                <c:pt idx="6">
                  <c:v>601.091219636076</c:v>
                </c:pt>
                <c:pt idx="7">
                  <c:v>541.0672140977422</c:v>
                </c:pt>
                <c:pt idx="8">
                  <c:v>481.043208894158</c:v>
                </c:pt>
                <c:pt idx="9">
                  <c:v>421.0192039101834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Depth (mm)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Temperature (K)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Heat flux (MW/m²)</c:v>
                </c:pt>
              </c:strCache>
            </c:strRef>
          </c:tx>
          <c:spPr>
            <a:solidFill>
              <a:srgbClr val="FF7A3D"/>
            </a:solidFill>
            <a:ln w="29210" cap="flat">
              <a:solidFill>
                <a:srgbClr val="FF7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B7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7A3D"/>
              </a:solidFill>
              <a:ln w="9525" cap="flat">
                <a:solidFill>
                  <a:srgbClr val="FF7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520.06</c:v>
                </c:pt>
                <c:pt idx="1">
                  <c:v>667.12</c:v>
                </c:pt>
                <c:pt idx="2">
                  <c:v>814.18</c:v>
                </c:pt>
                <c:pt idx="3">
                  <c:v>961.24</c:v>
                </c:pt>
                <c:pt idx="4">
                  <c:v>1108.29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B7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 k (W/m·K)</c:v>
                </c:pt>
              </c:strCache>
            </c:strRef>
          </c:tx>
          <c:spPr>
            <a:solidFill>
              <a:srgbClr val="1F4E63"/>
            </a:solidFill>
            <a:ln w="29210" cap="flat">
              <a:solidFill>
                <a:srgbClr val="1F4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B7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4E63"/>
              </a:solidFill>
              <a:ln w="9525" cap="flat">
                <a:solidFill>
                  <a:srgbClr val="1F4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50</c:v>
                  </c:pt>
                  <c:pt idx="1">
                    <c:v>100</c:v>
                  </c:pt>
                  <c:pt idx="2">
                    <c:v>150</c:v>
                  </c:pt>
                  <c:pt idx="3">
                    <c:v>200</c:v>
                  </c:pt>
                  <c:pt idx="4">
                    <c:v>250</c:v>
                  </c:pt>
                  <c:pt idx="5">
                    <c:v>300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4373</c:v>
                </c:pt>
                <c:pt idx="1">
                  <c:v>2373</c:v>
                </c:pt>
                <c:pt idx="2">
                  <c:v>1706.33</c:v>
                </c:pt>
                <c:pt idx="3">
                  <c:v>1373</c:v>
                </c:pt>
                <c:pt idx="4">
                  <c:v>1173</c:v>
                </c:pt>
                <c:pt idx="5">
                  <c:v>1039.67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B7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Thickness (mm)</c:v>
                </c:pt>
              </c:strCache>
            </c:strRef>
          </c:tx>
          <c:spPr>
            <a:solidFill>
              <a:srgbClr val="5FD1D0"/>
            </a:solidFill>
            <a:ln w="29210" cap="flat">
              <a:solidFill>
                <a:srgbClr val="5FD1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B7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FD1D0"/>
              </a:solidFill>
              <a:ln w="9525" cap="flat">
                <a:solidFill>
                  <a:srgbClr val="5FD1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8</c:v>
                  </c:pt>
                  <c:pt idx="4">
                    <c:v>10</c:v>
                  </c:pt>
                  <c:pt idx="5">
                    <c:v>12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490.65</c:v>
                </c:pt>
                <c:pt idx="1">
                  <c:v>608.29</c:v>
                </c:pt>
                <c:pt idx="2">
                  <c:v>725.94</c:v>
                </c:pt>
                <c:pt idx="3">
                  <c:v>843.59</c:v>
                </c:pt>
                <c:pt idx="4">
                  <c:v>961.24</c:v>
                </c:pt>
                <c:pt idx="5">
                  <c:v>1078.88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B7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33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331"/>
                </a:solidFill>
                <a:latin typeface="Arial"/>
              </a:rPr>
              <a:t>Steady-state comparison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Numerical</c:v>
                </c:pt>
              </c:strCache>
            </c:strRef>
          </c:tx>
          <c:spPr>
            <a:solidFill>
              <a:srgbClr val="FF7A3D"/>
            </a:solidFill>
            <a:ln w="25400" cap="flat">
              <a:solidFill>
                <a:srgbClr val="FF7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3D"/>
              </a:solidFill>
              <a:ln w="9525" cap="flat">
                <a:solidFill>
                  <a:srgbClr val="FF7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0.0</c:v>
                  </c:pt>
                  <c:pt idx="1">
                    <c:v>0.6</c:v>
                  </c:pt>
                  <c:pt idx="2">
                    <c:v>1.2</c:v>
                  </c:pt>
                  <c:pt idx="3">
                    <c:v>1.8</c:v>
                  </c:pt>
                  <c:pt idx="4">
                    <c:v>2.4</c:v>
                  </c:pt>
                  <c:pt idx="5">
                    <c:v>3.1</c:v>
                  </c:pt>
                  <c:pt idx="6">
                    <c:v>3.7</c:v>
                  </c:pt>
                  <c:pt idx="7">
                    <c:v>4.3</c:v>
                  </c:pt>
                  <c:pt idx="8">
                    <c:v>4.9</c:v>
                  </c:pt>
                  <c:pt idx="9">
                    <c:v>5.5</c:v>
                  </c:pt>
                  <c:pt idx="10">
                    <c:v>6.1</c:v>
                  </c:pt>
                  <c:pt idx="11">
                    <c:v>6.7</c:v>
                  </c:pt>
                  <c:pt idx="12">
                    <c:v>7.3</c:v>
                  </c:pt>
                  <c:pt idx="13">
                    <c:v>8.0</c:v>
                  </c:pt>
                  <c:pt idx="14">
                    <c:v>8.6</c:v>
                  </c:pt>
                  <c:pt idx="15">
                    <c:v>9.2</c:v>
                  </c:pt>
                  <c:pt idx="16">
                    <c:v>9.8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961.2353</c:v>
                </c:pt>
                <c:pt idx="1">
                  <c:v>925.2209</c:v>
                </c:pt>
                <c:pt idx="2">
                  <c:v>889.2065</c:v>
                </c:pt>
                <c:pt idx="3">
                  <c:v>853.192</c:v>
                </c:pt>
                <c:pt idx="4">
                  <c:v>817.1776</c:v>
                </c:pt>
                <c:pt idx="5">
                  <c:v>781.1632</c:v>
                </c:pt>
                <c:pt idx="6">
                  <c:v>745.1488</c:v>
                </c:pt>
                <c:pt idx="7">
                  <c:v>709.1344</c:v>
                </c:pt>
                <c:pt idx="8">
                  <c:v>673.12</c:v>
                </c:pt>
                <c:pt idx="9">
                  <c:v>637.1056</c:v>
                </c:pt>
                <c:pt idx="10">
                  <c:v>601.0912</c:v>
                </c:pt>
                <c:pt idx="11">
                  <c:v>565.0768</c:v>
                </c:pt>
                <c:pt idx="12">
                  <c:v>529.0624</c:v>
                </c:pt>
                <c:pt idx="13">
                  <c:v>493.048</c:v>
                </c:pt>
                <c:pt idx="14">
                  <c:v>457.0336</c:v>
                </c:pt>
                <c:pt idx="15">
                  <c:v>421.0192</c:v>
                </c:pt>
                <c:pt idx="16">
                  <c:v>385.0048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Analytical</c:v>
                </c:pt>
              </c:strCache>
            </c:strRef>
          </c:tx>
          <c:spPr>
            <a:solidFill>
              <a:srgbClr val="1F4E63"/>
            </a:solidFill>
            <a:ln w="25400" cap="flat">
              <a:solidFill>
                <a:srgbClr val="1F4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63"/>
              </a:solidFill>
              <a:ln w="9525" cap="flat">
                <a:solidFill>
                  <a:srgbClr val="1F4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0.0</c:v>
                  </c:pt>
                  <c:pt idx="1">
                    <c:v>0.6</c:v>
                  </c:pt>
                  <c:pt idx="2">
                    <c:v>1.2</c:v>
                  </c:pt>
                  <c:pt idx="3">
                    <c:v>1.8</c:v>
                  </c:pt>
                  <c:pt idx="4">
                    <c:v>2.4</c:v>
                  </c:pt>
                  <c:pt idx="5">
                    <c:v>3.1</c:v>
                  </c:pt>
                  <c:pt idx="6">
                    <c:v>3.7</c:v>
                  </c:pt>
                  <c:pt idx="7">
                    <c:v>4.3</c:v>
                  </c:pt>
                  <c:pt idx="8">
                    <c:v>4.9</c:v>
                  </c:pt>
                  <c:pt idx="9">
                    <c:v>5.5</c:v>
                  </c:pt>
                  <c:pt idx="10">
                    <c:v>6.1</c:v>
                  </c:pt>
                  <c:pt idx="11">
                    <c:v>6.7</c:v>
                  </c:pt>
                  <c:pt idx="12">
                    <c:v>7.3</c:v>
                  </c:pt>
                  <c:pt idx="13">
                    <c:v>8.0</c:v>
                  </c:pt>
                  <c:pt idx="14">
                    <c:v>8.6</c:v>
                  </c:pt>
                  <c:pt idx="15">
                    <c:v>9.2</c:v>
                  </c:pt>
                  <c:pt idx="16">
                    <c:v>9.8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961.2353</c:v>
                </c:pt>
                <c:pt idx="1">
                  <c:v>925.2209</c:v>
                </c:pt>
                <c:pt idx="2">
                  <c:v>889.2065</c:v>
                </c:pt>
                <c:pt idx="3">
                  <c:v>853.1921</c:v>
                </c:pt>
                <c:pt idx="4">
                  <c:v>817.1777</c:v>
                </c:pt>
                <c:pt idx="5">
                  <c:v>781.1633</c:v>
                </c:pt>
                <c:pt idx="6">
                  <c:v>745.1489</c:v>
                </c:pt>
                <c:pt idx="7">
                  <c:v>709.1345</c:v>
                </c:pt>
                <c:pt idx="8">
                  <c:v>673.12</c:v>
                </c:pt>
                <c:pt idx="9">
                  <c:v>637.1056</c:v>
                </c:pt>
                <c:pt idx="10">
                  <c:v>601.0912</c:v>
                </c:pt>
                <c:pt idx="11">
                  <c:v>565.0768</c:v>
                </c:pt>
                <c:pt idx="12">
                  <c:v>529.0624</c:v>
                </c:pt>
                <c:pt idx="13">
                  <c:v>493.048</c:v>
                </c:pt>
                <c:pt idx="14">
                  <c:v>457.0336</c:v>
                </c:pt>
                <c:pt idx="15">
                  <c:v>421.0192</c:v>
                </c:pt>
                <c:pt idx="16">
                  <c:v>385.0048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Depth (mm)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Temperature (K)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33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331"/>
                </a:solidFill>
                <a:latin typeface="Arial"/>
              </a:rPr>
              <a:t>Surface temperature vs grid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Surface T (K)</c:v>
                </c:pt>
              </c:strCache>
            </c:strRef>
          </c:tx>
          <c:spPr>
            <a:solidFill>
              <a:srgbClr val="1F4E6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N=25</c:v>
                  </c:pt>
                  <c:pt idx="1">
                    <c:v>N=50</c:v>
                  </c:pt>
                  <c:pt idx="2">
                    <c:v>N=100</c:v>
                  </c:pt>
                  <c:pt idx="3">
                    <c:v>N=200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961.2352741604535</c:v>
                </c:pt>
                <c:pt idx="1">
                  <c:v>961.2352649705914</c:v>
                </c:pt>
                <c:pt idx="2">
                  <c:v>961.2352592873075</c:v>
                </c:pt>
                <c:pt idx="3">
                  <c:v>961.2352561487199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5B6B7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2.5"/>
          <c:min val="960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F4E6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274320"/>
            <a:ext cx="2560320" cy="2560320"/>
          </a:xfrm>
          <a:prstGeom prst="ellipse">
            <a:avLst/>
          </a:prstGeom>
          <a:solidFill>
            <a:srgbClr val="FF7A3D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ENGINEERING · THERMAL ANALYSIS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 Divertor Thermal Simulation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1D transient heat-conduction model: analytical solution, finite-difference simulation, and validation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0" cy="0"/>
          </a:xfrm>
          <a:prstGeom prst="line">
            <a:avLst/>
          </a:prstGeom>
          <a:noFill/>
          <a:ln w="12700">
            <a:solidFill>
              <a:srgbClr val="102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q'' = 20 MW/m²   </a:t>
            </a:r>
            <a:pPr indent="0" marL="0">
              <a:buNone/>
            </a:pPr>
            <a:r>
              <a:rPr lang="en-US" sz="13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heat flux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170–340 W/m·K   </a:t>
            </a:r>
            <a:pPr indent="0" marL="0">
              <a:buNone/>
            </a:pPr>
            <a:r>
              <a:rPr lang="en-US" sz="13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conductivity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&amp; 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divertor heat management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divertor?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divertor is the component at the bottom of a tokamak that removes plasma exhaust and impurities, absorbing the most intense heat loads of the entire reactor.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critical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faces steady-state heat fluxes of 10–20 MW/m² — comparable to a spacecraft re-entering the atmosphere. Without effective cooling, surface temperatures would exceed the melting point of any known structural material.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645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52360" y="1755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MW/m²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304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heat flux at divertor surface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306324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52360" y="31729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~3400°C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721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melting point — the operating margin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448056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52360" y="4590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model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51389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simplified engineering approximation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PHYSICAL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1D divertor geometry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q'' = 2×10⁷ W/m²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03120" y="3246120"/>
            <a:ext cx="777240" cy="365760"/>
          </a:xfrm>
          <a:prstGeom prst="rightArrow">
            <a:avLst/>
          </a:prstGeom>
          <a:solidFill>
            <a:srgbClr val="FF7A3D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2743200"/>
            <a:ext cx="5486400" cy="1737360"/>
          </a:xfrm>
          <a:prstGeom prst="rect">
            <a:avLst/>
          </a:prstGeom>
          <a:solidFill>
            <a:srgbClr val="1F4E63"/>
          </a:solidFill>
          <a:ln w="19050">
            <a:solidFill>
              <a:srgbClr val="102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Divertor material (tungsten)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4553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 (surface)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53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L (cooled)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59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10 mm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49640" y="3246120"/>
            <a:ext cx="777240" cy="365760"/>
          </a:xfrm>
          <a:prstGeom prst="rightArrow">
            <a:avLst/>
          </a:prstGeom>
          <a:solidFill>
            <a:srgbClr val="5FD1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0" y="2423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373 K (100°C)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enters at the plasma-facing surface (x = 0) and is conducted through the material thickness L to a fixed-temperature cooling boundary at x = L. The problem is treated as one-dimensional: temperature varies only through the thickness, not along the surface.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ASSUMPTIONS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Simplifications behind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0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material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composition throughout the divertor block — no grain structure, coatings, or defects.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965960"/>
            <a:ext cx="502920" cy="502920"/>
          </a:xfrm>
          <a:prstGeom prst="ellipse">
            <a:avLst/>
          </a:prstGeom>
          <a:solidFill>
            <a:srgbClr val="1023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202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heat conduction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317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depends only on depth x; lateral (in-plane) conduction is neglected.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023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60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k, ρ, cₚ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720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conductivity, density, and specific heat do not vary with temperature.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4206240"/>
            <a:ext cx="502920" cy="502920"/>
          </a:xfrm>
          <a:prstGeom prst="ellipse">
            <a:avLst/>
          </a:prstGeom>
          <a:solidFill>
            <a:srgbClr val="1023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160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cooling boundary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5720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coolant-side face is held at a constant T_cool = 373 K at all times.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GOVERNING EQUATION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1D heat-conduction PDE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65960" y="2011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F4E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ρcₚ ∂T/∂t  =  k ∂²T/∂x²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 </a:t>
            </a:r>
            <a:pPr indent="0" marL="0">
              <a:buNone/>
            </a:pPr>
            <a:r>
              <a:rPr lang="en-US" sz="12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(kg/m³)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cₚ  </a:t>
            </a:r>
            <a:pPr indent="0" marL="0">
              <a:buNone/>
            </a:pPr>
            <a:r>
              <a:rPr lang="en-US" sz="12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 capacity (J/kg·K)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</a:t>
            </a:r>
            <a:pPr indent="0" marL="0">
              <a:buNone/>
            </a:pPr>
            <a:r>
              <a:rPr lang="en-US" sz="12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(W/m·K)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T(x,t)  </a:t>
            </a:r>
            <a:pPr indent="0" marL="0">
              <a:buNone/>
            </a:pPr>
            <a:r>
              <a:rPr lang="en-US" sz="12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field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7091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transient heat equation: the left side is the rate of thermal energy storage, the right side is the net conduction into a slice of material. Setting ∂T/∂t = 0 gives the steady-state limit used for our analytical solution.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BOUNDARY &amp; INITIAL CONDITIONS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heat-flux BC (x = 0)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T[0] = T[1] + q''·Δx / 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heat flux enters the surface; the surface temperature floats and is set from its neighbor and the flux.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BC (x = L)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T[-1] = T_cool = 373 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337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coolant-side face is clamped at a constant temperature for all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T(x, 0) = T_cool everywhere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4846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divertor starts uniformly at the coolant temperature before plasma heating begins.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ANALYTICAL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Closed-form steady-state profile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T(x) = T_cool + (q'' / k)(L − x)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the steady-state equation (∂²T/∂x² = 0) twice and applying the two boundary conditions gives a linear temperature profile — heat flows down a straight-line gradient from the hot surface to the cooled 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02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886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961.2 K  (688°C)
</a:t>
            </a:r>
            <a:pPr indent="0" marL="0">
              <a:buNone/>
            </a:pPr>
            <a:r>
              <a:rPr lang="en-US" sz="12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surface temperature at q'' = 20 MW/m², k = 340 W/m·K, L = 10 mm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355080" y="146304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NUMERICAL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Discretization &amp; finite-difference scheme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Discretize space &amp; time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thickness L into N = 50 points spaced Δx apart, and step forward in time in increments of Δt.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Approximate the derivatives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∂T/∂t with a forward difference and ∂²T/∂x² with a central difference — the explicit FTCS scheme.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March forward in time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update every interior point, then reapply the two boundary conditions.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1023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Finite-difference equation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Tᵢⁿ⁺¹ = Tᵢⁿ + α·Δt·(Tᵢ₊₁ⁿ − 2Tᵢⁿ + Tᵢ₋₁ⁿ) / Δx²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k / (ρcₚ)  is the thermal diffusivity — how quickly heat spreads through the material.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6.59×10⁻⁵ m²/s   </a:t>
            </a:r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tungsten in the transient case (k = 170 W/m·K)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NUMERICAL STABILITY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explicit scheme well-behaved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F4E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α·Δt / Δx²  ≤  0.5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explicit FTCS scheme is only conditionally stable. If r exceeds 0.5, numerical errors grow without bound and the simulation diverges — the time step must shrink as the grid is refined.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1828800"/>
            <a:ext cx="493776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 mm  (N = 50)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1×10⁻⁴ 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6.59×10⁻⁵ m²/s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160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  →  stable 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TRANSIENT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evolving with time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69480" y="173736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 K → 961 K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temperature rises from the initial coolant temperature to steady state within seconds.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straightens into the linear analytical shape as t → steady state, confirming the transient solution relaxes to the correct limit.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PARAMETER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of surface temperature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flux (MW/m²)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194560"/>
          <a:ext cx="3246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297680" y="16002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2628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k (W/m·K)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480560" y="2194560"/>
          <a:ext cx="3246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092440" y="16002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(mm)</a:t>
            </a:r>
            <a:endParaRPr lang="en-US" sz="13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275320" y="2194560"/>
          <a:ext cx="3246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temperature rises linearly with heat flux and thickness, and falls off with conductivity — exactly as the analytical formula T = T_cool + q''L/k predicts.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vs analytical solution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60920" y="2011680"/>
            <a:ext cx="4343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curves overlap almost exactly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explicit finite-difference simulation, once it reaches steady state, reproduces the closed-form linear solution to within a fraction of a degree.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ERROR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closely the methods agree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F4E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2.92e-5 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error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F4E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1.86e-5 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F4E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3.04e-6 %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relative error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of this size are essentially numerical round-off, not modeling error — the finite-difference scheme is highly accurate once it has relaxed to steady state, well below any physically meaningful temperature difference.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GRID CONVERGENCE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answer depend on grid size?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× time-step pairs (r = 0.4)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      Surface T (K)     Error (K)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560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25       961.2353          2.00e-5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2944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50       961.2353          2.91e-5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3284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100      961.2353          3.48e-5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712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200      961.2353          3.80e-5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3708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grids converge to the same ~961.2 K surface temperature — the solution is grid-independent, so N = 50 is an adequate resolution for this problem.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PHYSICAL INTERPRETATION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mean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64592" cy="164592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gradient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constant-property, constant-flux slab always produces a straight-line temperature profile — curvature would only appear with temperature-dependent properties or internal heat generation.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64592" cy="164592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743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thermal response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08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α ≈ 6.6×10⁻⁵ m²/s and only 10 mm of material, the divertor reaches steady state in well under a second — much faster than typical plasma pulse durations.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164592" cy="164592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is the lever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06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ΔT = q''L/k, doubling conductivity halves the surface temperature rise — this is why tungsten (high k) is favored over lower-conductivity armor materials.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38344"/>
            <a:ext cx="164592" cy="164592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937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walls run cooler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03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thickness L reduces the temperature rise proportionally, motivating thin, actively-cooled divertor tile designs.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LIMITATIONS &amp; FUTURE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could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56232"/>
            <a:ext cx="146304" cy="14630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91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model — ignores lateral spreading and edge effects present in real, finite tiles.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146304" cy="14630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77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material properties — real k, ρ, cₚ vary with temperature, especially over an 600 K rise.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227832"/>
            <a:ext cx="146304" cy="14630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063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cooling — a perfectly fixed boundary temperature ignores real coolant-channel heat-transfer limits.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2D/3D geometry with realistic tile shapes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560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Temperature-dependent k, ρ, cₚ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400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Convective boundary condition (finite heat-transfer coefficient)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7241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Pulsed/transient plasma heat-flux loading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2026-09-18T11:01:12Z</dcterms:created>
  <dcterms:modified xsi:type="dcterms:W3CDTF">2026-09-18T11:01:12Z</dcterms:modified>
</cp:coreProperties>
</file>